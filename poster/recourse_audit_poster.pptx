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08520BAA-C8E6-E6EE-7C9A-63D54934CFC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667"/>
    <p:restoredTop sz="94610"/>
  </p:normalViewPr>
  <p:slideViewPr>
    <p:cSldViewPr snapToGrid="0" snapToObjects="1">
      <p:cViewPr varScale="1">
        <p:scale>
          <a:sx n="26" d="100"/>
          <a:sy n="26" d="100"/>
        </p:scale>
        <p:origin x="288" y="1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Under 30</c:v>
                </c:pt>
              </c:strCache>
            </c:strRef>
          </c:tx>
          <c:spPr>
            <a:ln w="63500" cap="flat">
              <a:solidFill>
                <a:srgbClr val="C84E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9.4000000000000004E-3</c:v>
                </c:pt>
                <c:pt idx="5">
                  <c:v>1.4200000000000001E-2</c:v>
                </c:pt>
                <c:pt idx="6">
                  <c:v>1.89E-2</c:v>
                </c:pt>
                <c:pt idx="7">
                  <c:v>4.2500000000000003E-2</c:v>
                </c:pt>
                <c:pt idx="8">
                  <c:v>5.1900000000000002E-2</c:v>
                </c:pt>
                <c:pt idx="9">
                  <c:v>7.5499999999999998E-2</c:v>
                </c:pt>
                <c:pt idx="10">
                  <c:v>7.5499999999999998E-2</c:v>
                </c:pt>
                <c:pt idx="11">
                  <c:v>8.0199999999999994E-2</c:v>
                </c:pt>
                <c:pt idx="12">
                  <c:v>8.0199999999999994E-2</c:v>
                </c:pt>
                <c:pt idx="13">
                  <c:v>8.0199999999999994E-2</c:v>
                </c:pt>
                <c:pt idx="14">
                  <c:v>8.0199999999999994E-2</c:v>
                </c:pt>
                <c:pt idx="15">
                  <c:v>0.1038</c:v>
                </c:pt>
                <c:pt idx="16">
                  <c:v>0.1038</c:v>
                </c:pt>
                <c:pt idx="17">
                  <c:v>0.1179</c:v>
                </c:pt>
                <c:pt idx="18">
                  <c:v>0.1179</c:v>
                </c:pt>
                <c:pt idx="19">
                  <c:v>0.1179</c:v>
                </c:pt>
                <c:pt idx="20">
                  <c:v>0.1179</c:v>
                </c:pt>
                <c:pt idx="21">
                  <c:v>0.1179</c:v>
                </c:pt>
                <c:pt idx="22">
                  <c:v>0.1179</c:v>
                </c:pt>
                <c:pt idx="23">
                  <c:v>0.1179</c:v>
                </c:pt>
                <c:pt idx="24">
                  <c:v>0.1179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36-0A4E-B0D6-23A6575F7E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30–49</c:v>
                </c:pt>
              </c:strCache>
            </c:strRef>
          </c:tx>
          <c:spPr>
            <a:ln w="63500" cap="flat">
              <a:solidFill>
                <a:srgbClr val="012169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6.8000000000000005E-2</c:v>
                </c:pt>
                <c:pt idx="2">
                  <c:v>0.13950000000000001</c:v>
                </c:pt>
                <c:pt idx="3">
                  <c:v>0.24829999999999999</c:v>
                </c:pt>
                <c:pt idx="4">
                  <c:v>0.35370000000000001</c:v>
                </c:pt>
                <c:pt idx="5">
                  <c:v>0.52380000000000004</c:v>
                </c:pt>
                <c:pt idx="6">
                  <c:v>0.59519999999999995</c:v>
                </c:pt>
                <c:pt idx="7">
                  <c:v>0.66669999999999996</c:v>
                </c:pt>
                <c:pt idx="8">
                  <c:v>0.70069999999999999</c:v>
                </c:pt>
                <c:pt idx="9">
                  <c:v>0.75170000000000003</c:v>
                </c:pt>
                <c:pt idx="10">
                  <c:v>0.77549999999999997</c:v>
                </c:pt>
                <c:pt idx="11">
                  <c:v>0.81630000000000003</c:v>
                </c:pt>
                <c:pt idx="12">
                  <c:v>0.84350000000000003</c:v>
                </c:pt>
                <c:pt idx="13">
                  <c:v>0.85709999999999997</c:v>
                </c:pt>
                <c:pt idx="14">
                  <c:v>0.87409999999999999</c:v>
                </c:pt>
                <c:pt idx="15">
                  <c:v>0.87760000000000005</c:v>
                </c:pt>
                <c:pt idx="16">
                  <c:v>0.89459999999999995</c:v>
                </c:pt>
                <c:pt idx="17">
                  <c:v>0.92179999999999995</c:v>
                </c:pt>
                <c:pt idx="18">
                  <c:v>0.92520000000000002</c:v>
                </c:pt>
                <c:pt idx="19">
                  <c:v>0.92520000000000002</c:v>
                </c:pt>
                <c:pt idx="20">
                  <c:v>0.93200000000000005</c:v>
                </c:pt>
                <c:pt idx="21">
                  <c:v>0.93879999999999997</c:v>
                </c:pt>
                <c:pt idx="22">
                  <c:v>0.93879999999999997</c:v>
                </c:pt>
                <c:pt idx="23">
                  <c:v>0.93879999999999997</c:v>
                </c:pt>
                <c:pt idx="24">
                  <c:v>0.93879999999999997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36-0A4E-B0D6-23A6575F7E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50+</c:v>
                </c:pt>
              </c:strCache>
            </c:strRef>
          </c:tx>
          <c:spPr>
            <a:ln w="63500" cap="flat">
              <a:solidFill>
                <a:srgbClr val="B5B5B5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0</c:v>
                </c:pt>
                <c:pt idx="1">
                  <c:v>8.5000000000000006E-2</c:v>
                </c:pt>
                <c:pt idx="2">
                  <c:v>0.15989999999999999</c:v>
                </c:pt>
                <c:pt idx="3">
                  <c:v>0.28910000000000002</c:v>
                </c:pt>
                <c:pt idx="4">
                  <c:v>0.47620000000000001</c:v>
                </c:pt>
                <c:pt idx="5">
                  <c:v>0.63270000000000004</c:v>
                </c:pt>
                <c:pt idx="6">
                  <c:v>0.75170000000000003</c:v>
                </c:pt>
                <c:pt idx="7">
                  <c:v>0.82989999999999997</c:v>
                </c:pt>
                <c:pt idx="8">
                  <c:v>0.87070000000000003</c:v>
                </c:pt>
                <c:pt idx="9">
                  <c:v>0.89459999999999995</c:v>
                </c:pt>
                <c:pt idx="10">
                  <c:v>0.90820000000000001</c:v>
                </c:pt>
                <c:pt idx="11">
                  <c:v>0.93540000000000001</c:v>
                </c:pt>
                <c:pt idx="12">
                  <c:v>0.95920000000000005</c:v>
                </c:pt>
                <c:pt idx="13">
                  <c:v>0.97619999999999996</c:v>
                </c:pt>
                <c:pt idx="14">
                  <c:v>0.97619999999999996</c:v>
                </c:pt>
                <c:pt idx="15">
                  <c:v>0.97960000000000003</c:v>
                </c:pt>
                <c:pt idx="16">
                  <c:v>0.97960000000000003</c:v>
                </c:pt>
                <c:pt idx="17">
                  <c:v>0.98299999999999998</c:v>
                </c:pt>
                <c:pt idx="18">
                  <c:v>0.98299999999999998</c:v>
                </c:pt>
                <c:pt idx="19">
                  <c:v>0.98299999999999998</c:v>
                </c:pt>
                <c:pt idx="20">
                  <c:v>0.98640000000000005</c:v>
                </c:pt>
                <c:pt idx="21">
                  <c:v>0.98640000000000005</c:v>
                </c:pt>
                <c:pt idx="22">
                  <c:v>0.98640000000000005</c:v>
                </c:pt>
                <c:pt idx="23">
                  <c:v>0.98640000000000005</c:v>
                </c:pt>
                <c:pt idx="24">
                  <c:v>0.98640000000000005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36-0A4E-B0D6-23A6575F7E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666666"/>
                    </a:solidFill>
                    <a:latin typeface="+mn-lt"/>
                  </a:defRPr>
                </a:pPr>
                <a:r>
                  <a:rPr lang="en-US" sz="2000" b="0" i="0" u="none" strike="noStrike">
                    <a:solidFill>
                      <a:srgbClr val="666666"/>
                    </a:solidFill>
                    <a:latin typeface="+mn-lt"/>
                  </a:rPr>
                  <a:t>allowed effort (1 = a year of school)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3D7D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2200">
              <a:solidFill>
                <a:srgbClr val="2626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1891951006124236"/>
          <c:y val="6.3657407407407413E-2"/>
          <c:w val="0.77059830964525655"/>
          <c:h val="0.872685185185185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advice</c:v>
                </c:pt>
              </c:strCache>
            </c:strRef>
          </c:tx>
          <c:spPr>
            <a:solidFill>
              <a:srgbClr val="C84E00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4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Marital status</c:v>
                </c:pt>
                <c:pt idx="1">
                  <c:v>Age</c:v>
                </c:pt>
                <c:pt idx="2">
                  <c:v>Birthplace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0.59250000000000003</c:v>
                </c:pt>
                <c:pt idx="1">
                  <c:v>0.29759999999999998</c:v>
                </c:pt>
                <c:pt idx="2">
                  <c:v>9.9199999999999997E-2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D-5A4B-9D92-205D14E2F5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4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671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0" y="0"/>
            <a:ext cx="32918400" cy="3794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2651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0" b="1" dirty="0">
                <a:solidFill>
                  <a:schemeClr val="bg1"/>
                </a:solidFill>
              </a:rPr>
              <a:t>Is Recourse Equally Open to Everyone?</a:t>
            </a:r>
            <a:endParaRPr lang="en-US" sz="10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2651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chemeClr val="bg2"/>
                </a:solidFill>
              </a:rPr>
              <a:t>Auditing algorithmic recourse in eligibility-style decisions: the 1994 benchmark vs 2023 North Carolina census data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265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</a:rPr>
              <a:t>Ogechukwu Ezenwa</a:t>
            </a:r>
            <a:r>
              <a:rPr lang="en-US" sz="3000" dirty="0">
                <a:solidFill>
                  <a:schemeClr val="bg1"/>
                </a:solidFill>
              </a:rPr>
              <a:t>   ·   AIPI 590, Duke University   ·   Fall 2026</a:t>
            </a:r>
            <a:endParaRPr lang="en-US" sz="3000" dirty="0"/>
          </a:p>
        </p:txBody>
      </p:sp>
      <p:sp>
        <p:nvSpPr>
          <p:cNvPr id="6" name="topic Explainable AI"/>
          <p:cNvSpPr/>
          <p:nvPr/>
        </p:nvSpPr>
        <p:spPr>
          <a:xfrm>
            <a:off x="14904720" y="2697480"/>
            <a:ext cx="2496312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4904720" y="2697480"/>
            <a:ext cx="2496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Explainable AI</a:t>
            </a:r>
            <a:endParaRPr lang="en-US" sz="2200" dirty="0"/>
          </a:p>
        </p:txBody>
      </p:sp>
      <p:sp>
        <p:nvSpPr>
          <p:cNvPr id="8" name="topic AI Evaluation"/>
          <p:cNvSpPr/>
          <p:nvPr/>
        </p:nvSpPr>
        <p:spPr>
          <a:xfrm>
            <a:off x="17675352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7675352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Evaluation</a:t>
            </a:r>
            <a:endParaRPr lang="en-US" sz="2200" dirty="0"/>
          </a:p>
        </p:txBody>
      </p:sp>
      <p:sp>
        <p:nvSpPr>
          <p:cNvPr id="10" name="topic AI Harms"/>
          <p:cNvSpPr/>
          <p:nvPr/>
        </p:nvSpPr>
        <p:spPr>
          <a:xfrm>
            <a:off x="20295108" y="2697480"/>
            <a:ext cx="159105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0295108" y="2697480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Harms</a:t>
            </a:r>
            <a:endParaRPr lang="en-US" sz="2200" dirty="0"/>
          </a:p>
        </p:txBody>
      </p:sp>
      <p:sp>
        <p:nvSpPr>
          <p:cNvPr id="12" name="topic AI Governance"/>
          <p:cNvSpPr/>
          <p:nvPr/>
        </p:nvSpPr>
        <p:spPr>
          <a:xfrm>
            <a:off x="22160484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22160484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Governance</a:t>
            </a:r>
            <a:endParaRPr lang="en-US" sz="2200" dirty="0"/>
          </a:p>
        </p:txBody>
      </p:sp>
      <p:sp>
        <p:nvSpPr>
          <p:cNvPr id="14" name="QR backing"/>
          <p:cNvSpPr/>
          <p:nvPr/>
        </p:nvSpPr>
        <p:spPr>
          <a:xfrm>
            <a:off x="29489400" y="411480"/>
            <a:ext cx="2743200" cy="27432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QR code" descr="QR code linking to the GitHub reposit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0" y="548640"/>
            <a:ext cx="2468880" cy="2468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6517600" y="3246120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dirty="0">
                <a:solidFill>
                  <a:schemeClr val="bg2"/>
                </a:solidFill>
              </a:rPr>
              <a:t>Code, app &amp; full report</a:t>
            </a:r>
            <a:endParaRPr lang="en-US" sz="2000" dirty="0"/>
          </a:p>
        </p:txBody>
      </p:sp>
      <p:sp>
        <p:nvSpPr>
          <p:cNvPr id="17" name="marker 1"/>
          <p:cNvSpPr/>
          <p:nvPr/>
        </p:nvSpPr>
        <p:spPr>
          <a:xfrm>
            <a:off x="73152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3152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75488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Explanations should show what you can do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60350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Counterfactual explanations</a:t>
            </a:r>
            <a:r>
              <a:rPr lang="en-US" sz="2600" dirty="0">
                <a:solidFill>
                  <a:schemeClr val="tx1"/>
                </a:solidFill>
              </a:rPr>
              <a:t>, a core XAI method, answer: what would need to change for the model to say yes? If a person can act on the answer, it is </a:t>
            </a:r>
            <a:r>
              <a:rPr lang="en-US" sz="2600" b="1" dirty="0">
                <a:solidFill>
                  <a:schemeClr val="tx1"/>
                </a:solidFill>
              </a:rPr>
              <a:t>recourse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</p:txBody>
      </p:sp>
      <p:sp>
        <p:nvSpPr>
          <p:cNvPr id="21" name="DENIED pill"/>
          <p:cNvSpPr/>
          <p:nvPr/>
        </p:nvSpPr>
        <p:spPr>
          <a:xfrm>
            <a:off x="73152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100584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DENIED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40 h/week</a:t>
            </a:r>
            <a:endParaRPr lang="en-US" sz="2200" dirty="0"/>
          </a:p>
        </p:txBody>
      </p:sp>
      <p:sp>
        <p:nvSpPr>
          <p:cNvPr id="23" name="APPROVED pill"/>
          <p:cNvSpPr/>
          <p:nvPr/>
        </p:nvSpPr>
        <p:spPr>
          <a:xfrm>
            <a:off x="571500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98932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APPROVED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45 h/week</a:t>
            </a:r>
            <a:endParaRPr lang="en-US" sz="2200" dirty="0"/>
          </a:p>
        </p:txBody>
      </p:sp>
      <p:sp>
        <p:nvSpPr>
          <p:cNvPr id="25" name="arrow"/>
          <p:cNvSpPr/>
          <p:nvPr/>
        </p:nvSpPr>
        <p:spPr>
          <a:xfrm>
            <a:off x="4709160" y="7882128"/>
            <a:ext cx="822960" cy="4572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731520" y="896112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/>
              <a:t>An explanation says why you were denied. Recourse says what you can </a:t>
            </a:r>
            <a:r>
              <a:rPr lang="en-US" sz="2600" dirty="0" err="1"/>
              <a:t>do.</a:t>
            </a:r>
            <a:r>
              <a:rPr lang="en-US" sz="2600" dirty="0" err="1">
                <a:solidFill>
                  <a:schemeClr val="tx1"/>
                </a:solidFill>
              </a:rPr>
              <a:t>“Be</a:t>
            </a:r>
            <a:r>
              <a:rPr lang="en-US" sz="2600" dirty="0">
                <a:solidFill>
                  <a:schemeClr val="tx1"/>
                </a:solidFill>
              </a:rPr>
              <a:t> older” or “get married” may flip the model, but no one can act on that.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28" name="marker 2"/>
          <p:cNvSpPr/>
          <p:nvPr/>
        </p:nvSpPr>
        <p:spPr>
          <a:xfrm>
            <a:off x="701675" y="1344625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01675" y="134462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1661795" y="13400532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We compared realistic and off-the-shelf recourse</a:t>
            </a:r>
            <a:endParaRPr lang="en-US" sz="3600" dirty="0"/>
          </a:p>
        </p:txBody>
      </p:sp>
      <p:sp>
        <p:nvSpPr>
          <p:cNvPr id="31" name="Text 28"/>
          <p:cNvSpPr txBox="1"/>
          <p:nvPr/>
        </p:nvSpPr>
        <p:spPr>
          <a:xfrm>
            <a:off x="610870" y="14752789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2851150" y="14752789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chemeClr val="tx1"/>
                </a:solidFill>
              </a:rPr>
              <a:t>1994 US Census (Adult) and 2023 North Carolina census (ACS), with the same inflation-adjusted income </a:t>
            </a:r>
            <a:r>
              <a:rPr lang="en-US" sz="2400" dirty="0"/>
              <a:t>bar “Approved” = income above $50K in 1994, $103K in 2023 (the same bar in 2023 dollars).</a:t>
            </a:r>
          </a:p>
        </p:txBody>
      </p:sp>
      <p:sp>
        <p:nvSpPr>
          <p:cNvPr id="33" name="Text 30"/>
          <p:cNvSpPr txBox="1"/>
          <p:nvPr/>
        </p:nvSpPr>
        <p:spPr>
          <a:xfrm>
            <a:off x="610870" y="174193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Realistic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2851150" y="1741932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Only what a person can change: more school, hours, job. Never age, marriage, or birthplace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593028" y="18520117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Off-the-shelf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2833308" y="18520117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Anything may change, as generic counterfactual tools allow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647034" y="194081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Evidence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2887314" y="1940814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~800 denied applicants per dataset; 95% bootstrap CIs; groups compared at the same starting distance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10972800" y="4617720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5000" b="1" dirty="0">
                <a:solidFill>
                  <a:schemeClr val="tx2"/>
                </a:solidFill>
              </a:rPr>
              <a:t>Under-30s have almost no realistic path to approval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40" name="Text 37"/>
          <p:cNvSpPr txBox="1"/>
          <p:nvPr/>
        </p:nvSpPr>
        <p:spPr>
          <a:xfrm>
            <a:off x="109728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98%</a:t>
            </a:r>
            <a:endParaRPr lang="en-US" sz="80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qualified under-30s are denied (2023)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146304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8%</a:t>
            </a:r>
            <a:endParaRPr lang="en-US" sz="8000" dirty="0"/>
          </a:p>
        </p:txBody>
      </p:sp>
      <p:sp>
        <p:nvSpPr>
          <p:cNvPr id="43" name="Text 40"/>
          <p:cNvSpPr txBox="1"/>
          <p:nvPr/>
        </p:nvSpPr>
        <p:spPr>
          <a:xfrm>
            <a:off x="146304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under-30s have a realistic path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82880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4"/>
                </a:solidFill>
              </a:rPr>
              <a:t>84%</a:t>
            </a:r>
            <a:endParaRPr lang="en-US" sz="8000" dirty="0"/>
          </a:p>
        </p:txBody>
      </p:sp>
      <p:sp>
        <p:nvSpPr>
          <p:cNvPr id="45" name="Text 42"/>
          <p:cNvSpPr txBox="1"/>
          <p:nvPr/>
        </p:nvSpPr>
        <p:spPr>
          <a:xfrm>
            <a:off x="182880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30–49-year-olds do</a:t>
            </a:r>
            <a:endParaRPr lang="en-US" sz="2200" dirty="0"/>
          </a:p>
        </p:txBody>
      </p:sp>
      <p:sp>
        <p:nvSpPr>
          <p:cNvPr id="46" name="Text 43"/>
          <p:cNvSpPr txBox="1"/>
          <p:nvPr/>
        </p:nvSpPr>
        <p:spPr>
          <a:xfrm>
            <a:off x="10972800" y="100126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Recourse gap vs the largest group, at the same starting distance (95% CI)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666666"/>
                </a:solidFill>
              </a:rPr>
              <a:t>● 1994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0577B1"/>
                </a:solidFill>
              </a:rPr>
              <a:t>● 2023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339898"/>
                </a:solidFill>
              </a:rPr>
              <a:t>● 2023 at a $50K bar</a:t>
            </a:r>
            <a:endParaRPr lang="en-US" sz="2400" dirty="0"/>
          </a:p>
        </p:txBody>
      </p:sp>
      <p:sp>
        <p:nvSpPr>
          <p:cNvPr id="47" name="under-30 highlight"/>
          <p:cNvSpPr/>
          <p:nvPr/>
        </p:nvSpPr>
        <p:spPr>
          <a:xfrm>
            <a:off x="10972800" y="14859000"/>
            <a:ext cx="10972800" cy="960120"/>
          </a:xfrm>
          <a:prstGeom prst="rect">
            <a:avLst/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4605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 txBox="1"/>
          <p:nvPr/>
        </p:nvSpPr>
        <p:spPr>
          <a:xfrm>
            <a:off x="14056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−60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15494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 txBox="1"/>
          <p:nvPr/>
        </p:nvSpPr>
        <p:spPr>
          <a:xfrm>
            <a:off x="14945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−50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16383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 txBox="1"/>
          <p:nvPr/>
        </p:nvSpPr>
        <p:spPr>
          <a:xfrm>
            <a:off x="15834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−40</a:t>
            </a:r>
            <a:endParaRPr lang="en-US" sz="2200" dirty="0"/>
          </a:p>
        </p:txBody>
      </p:sp>
      <p:sp>
        <p:nvSpPr>
          <p:cNvPr id="54" name="Shape 51"/>
          <p:cNvSpPr/>
          <p:nvPr/>
        </p:nvSpPr>
        <p:spPr>
          <a:xfrm>
            <a:off x="17272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 txBox="1"/>
          <p:nvPr/>
        </p:nvSpPr>
        <p:spPr>
          <a:xfrm>
            <a:off x="16723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−30</a:t>
            </a:r>
            <a:endParaRPr lang="en-US" sz="2200" dirty="0"/>
          </a:p>
        </p:txBody>
      </p:sp>
      <p:sp>
        <p:nvSpPr>
          <p:cNvPr id="56" name="Shape 53"/>
          <p:cNvSpPr/>
          <p:nvPr/>
        </p:nvSpPr>
        <p:spPr>
          <a:xfrm>
            <a:off x="18161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 txBox="1"/>
          <p:nvPr/>
        </p:nvSpPr>
        <p:spPr>
          <a:xfrm>
            <a:off x="17612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−20</a:t>
            </a:r>
            <a:endParaRPr lang="en-US" sz="2200" dirty="0"/>
          </a:p>
        </p:txBody>
      </p:sp>
      <p:sp>
        <p:nvSpPr>
          <p:cNvPr id="58" name="Shape 55"/>
          <p:cNvSpPr/>
          <p:nvPr/>
        </p:nvSpPr>
        <p:spPr>
          <a:xfrm>
            <a:off x="19050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18501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−10</a:t>
            </a:r>
            <a:endParaRPr lang="en-US" sz="2200" dirty="0"/>
          </a:p>
        </p:txBody>
      </p:sp>
      <p:sp>
        <p:nvSpPr>
          <p:cNvPr id="60" name="Shape 57"/>
          <p:cNvSpPr/>
          <p:nvPr/>
        </p:nvSpPr>
        <p:spPr>
          <a:xfrm>
            <a:off x="19939000" y="11018520"/>
            <a:ext cx="0" cy="4800600"/>
          </a:xfrm>
          <a:prstGeom prst="line">
            <a:avLst/>
          </a:prstGeom>
          <a:noFill/>
          <a:ln w="317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 txBox="1"/>
          <p:nvPr/>
        </p:nvSpPr>
        <p:spPr>
          <a:xfrm>
            <a:off x="19390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0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20828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 txBox="1"/>
          <p:nvPr/>
        </p:nvSpPr>
        <p:spPr>
          <a:xfrm>
            <a:off x="20279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+10</a:t>
            </a:r>
            <a:endParaRPr lang="en-US" sz="2200" dirty="0"/>
          </a:p>
        </p:txBody>
      </p:sp>
      <p:sp>
        <p:nvSpPr>
          <p:cNvPr id="64" name="Shape 61"/>
          <p:cNvSpPr/>
          <p:nvPr/>
        </p:nvSpPr>
        <p:spPr>
          <a:xfrm>
            <a:off x="21717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 txBox="1"/>
          <p:nvPr/>
        </p:nvSpPr>
        <p:spPr>
          <a:xfrm>
            <a:off x="21168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+20 pp</a:t>
            </a:r>
            <a:endParaRPr lang="en-US" sz="2200" dirty="0"/>
          </a:p>
        </p:txBody>
      </p:sp>
      <p:sp>
        <p:nvSpPr>
          <p:cNvPr id="66" name="Text 63"/>
          <p:cNvSpPr txBox="1"/>
          <p:nvPr/>
        </p:nvSpPr>
        <p:spPr>
          <a:xfrm>
            <a:off x="10972800" y="1125169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Women vs men</a:t>
            </a:r>
            <a:endParaRPr lang="en-US" sz="2400" dirty="0"/>
          </a:p>
        </p:txBody>
      </p:sp>
      <p:sp>
        <p:nvSpPr>
          <p:cNvPr id="67" name="Shape 64"/>
          <p:cNvSpPr/>
          <p:nvPr/>
        </p:nvSpPr>
        <p:spPr>
          <a:xfrm>
            <a:off x="19663410" y="11224260"/>
            <a:ext cx="8089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19926300" y="1108710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20232370" y="11498580"/>
            <a:ext cx="8801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7"/>
          <p:cNvSpPr/>
          <p:nvPr/>
        </p:nvSpPr>
        <p:spPr>
          <a:xfrm>
            <a:off x="20513040" y="1136142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8"/>
          <p:cNvSpPr/>
          <p:nvPr/>
        </p:nvSpPr>
        <p:spPr>
          <a:xfrm>
            <a:off x="20001230" y="11772900"/>
            <a:ext cx="56896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9"/>
          <p:cNvSpPr/>
          <p:nvPr/>
        </p:nvSpPr>
        <p:spPr>
          <a:xfrm>
            <a:off x="20148550" y="1163574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 txBox="1"/>
          <p:nvPr/>
        </p:nvSpPr>
        <p:spPr>
          <a:xfrm>
            <a:off x="10972800" y="1221181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Black vs White</a:t>
            </a:r>
            <a:endParaRPr lang="en-US" sz="2400" dirty="0"/>
          </a:p>
        </p:txBody>
      </p:sp>
      <p:sp>
        <p:nvSpPr>
          <p:cNvPr id="74" name="Shape 71"/>
          <p:cNvSpPr/>
          <p:nvPr/>
        </p:nvSpPr>
        <p:spPr>
          <a:xfrm>
            <a:off x="19147790" y="12184380"/>
            <a:ext cx="99568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2"/>
          <p:cNvSpPr/>
          <p:nvPr/>
        </p:nvSpPr>
        <p:spPr>
          <a:xfrm>
            <a:off x="19499580" y="1204722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19192240" y="12458700"/>
            <a:ext cx="130683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4"/>
          <p:cNvSpPr/>
          <p:nvPr/>
        </p:nvSpPr>
        <p:spPr>
          <a:xfrm>
            <a:off x="19704050" y="1232154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5"/>
          <p:cNvSpPr/>
          <p:nvPr/>
        </p:nvSpPr>
        <p:spPr>
          <a:xfrm>
            <a:off x="19530060" y="12733020"/>
            <a:ext cx="85344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6"/>
          <p:cNvSpPr/>
          <p:nvPr/>
        </p:nvSpPr>
        <p:spPr>
          <a:xfrm>
            <a:off x="19819620" y="1259586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7"/>
          <p:cNvSpPr txBox="1"/>
          <p:nvPr/>
        </p:nvSpPr>
        <p:spPr>
          <a:xfrm>
            <a:off x="10972800" y="131719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Other race vs White</a:t>
            </a:r>
            <a:endParaRPr lang="en-US" sz="2400" dirty="0"/>
          </a:p>
        </p:txBody>
      </p:sp>
      <p:sp>
        <p:nvSpPr>
          <p:cNvPr id="81" name="Shape 78"/>
          <p:cNvSpPr/>
          <p:nvPr/>
        </p:nvSpPr>
        <p:spPr>
          <a:xfrm>
            <a:off x="19254470" y="13144500"/>
            <a:ext cx="106680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9"/>
          <p:cNvSpPr/>
          <p:nvPr/>
        </p:nvSpPr>
        <p:spPr>
          <a:xfrm>
            <a:off x="19632930" y="1300734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0"/>
          <p:cNvSpPr/>
          <p:nvPr/>
        </p:nvSpPr>
        <p:spPr>
          <a:xfrm>
            <a:off x="18898870" y="13418820"/>
            <a:ext cx="118237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19348450" y="1328166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2"/>
          <p:cNvSpPr/>
          <p:nvPr/>
        </p:nvSpPr>
        <p:spPr>
          <a:xfrm>
            <a:off x="19618960" y="13693140"/>
            <a:ext cx="86233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3"/>
          <p:cNvSpPr/>
          <p:nvPr/>
        </p:nvSpPr>
        <p:spPr>
          <a:xfrm>
            <a:off x="19890740" y="1355598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 txBox="1"/>
          <p:nvPr/>
        </p:nvSpPr>
        <p:spPr>
          <a:xfrm>
            <a:off x="10972800" y="1413205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50+ vs 30–49</a:t>
            </a:r>
            <a:endParaRPr lang="en-US" sz="2400" dirty="0"/>
          </a:p>
        </p:txBody>
      </p:sp>
      <p:sp>
        <p:nvSpPr>
          <p:cNvPr id="88" name="Shape 85"/>
          <p:cNvSpPr/>
          <p:nvPr/>
        </p:nvSpPr>
        <p:spPr>
          <a:xfrm>
            <a:off x="19147790" y="14104620"/>
            <a:ext cx="10756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9552920" y="1396746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20294600" y="14378940"/>
            <a:ext cx="67564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20495260" y="1424178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19850100" y="14653260"/>
            <a:ext cx="28448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19846290" y="1451610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1"/>
          <p:cNvSpPr txBox="1"/>
          <p:nvPr/>
        </p:nvSpPr>
        <p:spPr>
          <a:xfrm>
            <a:off x="10972800" y="150921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Under 30 vs 30–49</a:t>
            </a:r>
            <a:endParaRPr lang="en-US" sz="2400" dirty="0"/>
          </a:p>
        </p:txBody>
      </p:sp>
      <p:sp>
        <p:nvSpPr>
          <p:cNvPr id="95" name="Shape 92"/>
          <p:cNvSpPr/>
          <p:nvPr/>
        </p:nvSpPr>
        <p:spPr>
          <a:xfrm>
            <a:off x="19103340" y="15064740"/>
            <a:ext cx="61341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19268440" y="1492758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14204950" y="15339060"/>
            <a:ext cx="30137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15587980" y="1520190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15778480" y="15613380"/>
            <a:ext cx="178689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16521430" y="1547622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8"/>
          <p:cNvSpPr txBox="1"/>
          <p:nvPr/>
        </p:nvSpPr>
        <p:spPr>
          <a:xfrm>
            <a:off x="10972800" y="167335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More effort does not close the gap (2023)</a:t>
            </a:r>
            <a:endParaRPr lang="en-US" sz="2400" dirty="0"/>
          </a:p>
        </p:txBody>
      </p:sp>
      <p:graphicFrame>
        <p:nvGraphicFramePr>
          <p:cNvPr id="102" name="budget curves chart"/>
          <p:cNvGraphicFramePr/>
          <p:nvPr/>
        </p:nvGraphicFramePr>
        <p:xfrm>
          <a:off x="10972800" y="17236440"/>
          <a:ext cx="10972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3" name="marker 3"/>
          <p:cNvSpPr/>
          <p:nvPr/>
        </p:nvSpPr>
        <p:spPr>
          <a:xfrm>
            <a:off x="2249424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0"/>
          <p:cNvSpPr txBox="1"/>
          <p:nvPr/>
        </p:nvSpPr>
        <p:spPr>
          <a:xfrm>
            <a:off x="2249424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105" name="Text 101"/>
          <p:cNvSpPr txBox="1"/>
          <p:nvPr/>
        </p:nvSpPr>
        <p:spPr>
          <a:xfrm>
            <a:off x="23454360" y="4754880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Off-the-shelf explanations mostly advise the impossible</a:t>
            </a:r>
            <a:endParaRPr lang="en-US" sz="3600" dirty="0"/>
          </a:p>
        </p:txBody>
      </p:sp>
      <p:sp>
        <p:nvSpPr>
          <p:cNvPr id="106" name="Text 102"/>
          <p:cNvSpPr txBox="1"/>
          <p:nvPr/>
        </p:nvSpPr>
        <p:spPr>
          <a:xfrm>
            <a:off x="22494240" y="63093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77%</a:t>
            </a:r>
            <a:endParaRPr lang="en-US" sz="8000" dirty="0"/>
          </a:p>
        </p:txBody>
      </p:sp>
      <p:sp>
        <p:nvSpPr>
          <p:cNvPr id="107" name="Text 103"/>
          <p:cNvSpPr txBox="1"/>
          <p:nvPr/>
        </p:nvSpPr>
        <p:spPr>
          <a:xfrm>
            <a:off x="22494240" y="7498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its advice breaks a rule (1994, capital gains fixed)</a:t>
            </a:r>
            <a:endParaRPr lang="en-US" sz="2200" dirty="0"/>
          </a:p>
        </p:txBody>
      </p:sp>
      <p:sp>
        <p:nvSpPr>
          <p:cNvPr id="108" name="Text 104"/>
          <p:cNvSpPr txBox="1"/>
          <p:nvPr/>
        </p:nvSpPr>
        <p:spPr>
          <a:xfrm>
            <a:off x="27340560" y="63093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42%</a:t>
            </a:r>
            <a:endParaRPr lang="en-US" sz="8000" dirty="0"/>
          </a:p>
        </p:txBody>
      </p:sp>
      <p:sp>
        <p:nvSpPr>
          <p:cNvPr id="109" name="Text 105"/>
          <p:cNvSpPr txBox="1"/>
          <p:nvPr/>
        </p:nvSpPr>
        <p:spPr>
          <a:xfrm>
            <a:off x="27340560" y="7498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still in 2023</a:t>
            </a:r>
            <a:endParaRPr lang="en-US" sz="2200" dirty="0"/>
          </a:p>
        </p:txBody>
      </p:sp>
      <p:sp>
        <p:nvSpPr>
          <p:cNvPr id="110" name="Text 106"/>
          <p:cNvSpPr txBox="1"/>
          <p:nvPr/>
        </p:nvSpPr>
        <p:spPr>
          <a:xfrm>
            <a:off x="22494240" y="84124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it tells people to change (1994, capital gains fixed)</a:t>
            </a:r>
            <a:endParaRPr lang="en-US" sz="2400" dirty="0"/>
          </a:p>
        </p:txBody>
      </p:sp>
      <p:graphicFrame>
        <p:nvGraphicFramePr>
          <p:cNvPr id="111" name="what it asks chart"/>
          <p:cNvGraphicFramePr/>
          <p:nvPr>
            <p:extLst>
              <p:ext uri="{D42A27DB-BD31-4B8C-83A1-F6EECF244321}">
                <p14:modId xmlns:p14="http://schemas.microsoft.com/office/powerpoint/2010/main" val="1853051912"/>
              </p:ext>
            </p:extLst>
          </p:nvPr>
        </p:nvGraphicFramePr>
        <p:xfrm>
          <a:off x="22494240" y="8869680"/>
          <a:ext cx="969264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2" name="be older callout"/>
          <p:cNvSpPr/>
          <p:nvPr/>
        </p:nvSpPr>
        <p:spPr>
          <a:xfrm>
            <a:off x="22494240" y="10972800"/>
            <a:ext cx="9692640" cy="1188720"/>
          </a:xfrm>
          <a:prstGeom prst="roundRect">
            <a:avLst>
              <a:gd name="adj" fmla="val 1153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08"/>
          <p:cNvSpPr txBox="1"/>
          <p:nvPr/>
        </p:nvSpPr>
        <p:spPr>
          <a:xfrm>
            <a:off x="22768560" y="110642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93%</a:t>
            </a:r>
            <a:r>
              <a:rPr lang="en-US" sz="2600" dirty="0">
                <a:solidFill>
                  <a:schemeClr val="tx1"/>
                </a:solidFill>
              </a:rPr>
              <a:t> of its advice to denied under-30s in 2023</a:t>
            </a:r>
            <a:r>
              <a:rPr lang="en-US" sz="2600" dirty="0"/>
              <a:t> amounts to </a:t>
            </a:r>
            <a:r>
              <a:rPr lang="en-US" sz="2600" dirty="0">
                <a:solidFill>
                  <a:schemeClr val="tx1"/>
                </a:solidFill>
              </a:rPr>
              <a:t>“be older” (median: be 4</a:t>
            </a:r>
            <a:endParaRPr lang="en-US" sz="2600" dirty="0"/>
          </a:p>
        </p:txBody>
      </p:sp>
      <p:sp>
        <p:nvSpPr>
          <p:cNvPr id="114" name="marker 4"/>
          <p:cNvSpPr/>
          <p:nvPr/>
        </p:nvSpPr>
        <p:spPr>
          <a:xfrm>
            <a:off x="22494240" y="12573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0"/>
          <p:cNvSpPr txBox="1"/>
          <p:nvPr/>
        </p:nvSpPr>
        <p:spPr>
          <a:xfrm>
            <a:off x="22494240" y="12573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116" name="Text 111"/>
          <p:cNvSpPr txBox="1"/>
          <p:nvPr/>
        </p:nvSpPr>
        <p:spPr>
          <a:xfrm>
            <a:off x="23454360" y="12527280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1994’s sex and race gaps came from where people start</a:t>
            </a:r>
            <a:endParaRPr lang="en-US" sz="3600" dirty="0"/>
          </a:p>
        </p:txBody>
      </p:sp>
      <p:graphicFrame>
        <p:nvGraphicFramePr>
          <p:cNvPr id="117" name="1994 ga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494240" y="14081760"/>
          <a:ext cx="8778240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gap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start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Women vs men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vs White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8" name="Text 112"/>
          <p:cNvSpPr txBox="1"/>
          <p:nvPr/>
        </p:nvSpPr>
        <p:spPr>
          <a:xfrm>
            <a:off x="22494240" y="157276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Treated alike at the same distance from approval.  * 95% CI excludes 0</a:t>
            </a:r>
            <a:endParaRPr lang="en-US" sz="2200" dirty="0"/>
          </a:p>
        </p:txBody>
      </p:sp>
      <p:sp>
        <p:nvSpPr>
          <p:cNvPr id="119" name="marker 5"/>
          <p:cNvSpPr/>
          <p:nvPr/>
        </p:nvSpPr>
        <p:spPr>
          <a:xfrm>
            <a:off x="22494240" y="165963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4"/>
          <p:cNvSpPr txBox="1"/>
          <p:nvPr/>
        </p:nvSpPr>
        <p:spPr>
          <a:xfrm>
            <a:off x="22494240" y="16596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121" name="Text 115"/>
          <p:cNvSpPr txBox="1"/>
          <p:nvPr/>
        </p:nvSpPr>
        <p:spPr>
          <a:xfrm>
            <a:off x="23454360" y="1655064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Audit explanations, not just accuracy</a:t>
            </a:r>
            <a:endParaRPr lang="en-US" sz="3600" dirty="0"/>
          </a:p>
        </p:txBody>
      </p:sp>
      <p:sp>
        <p:nvSpPr>
          <p:cNvPr id="122" name="Text 116"/>
          <p:cNvSpPr txBox="1"/>
          <p:nvPr/>
        </p:nvSpPr>
        <p:spPr>
          <a:xfrm>
            <a:off x="22494240" y="17647920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Error rates show under-30s are wrongly denied; recourse shows they can’t do anything about it, once denied.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Generic explanation tools mislead most where real recourse is scarcest.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Re-audit on current data: 1994 understated the age gap.</a:t>
            </a:r>
            <a:endParaRPr lang="en-US" sz="2400" dirty="0"/>
          </a:p>
        </p:txBody>
      </p:sp>
      <p:sp>
        <p:nvSpPr>
          <p:cNvPr id="123" name="Text 117"/>
          <p:cNvSpPr txBox="1"/>
          <p:nvPr/>
        </p:nvSpPr>
        <p:spPr>
          <a:xfrm>
            <a:off x="731520" y="21351240"/>
            <a:ext cx="3145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References: </a:t>
            </a:r>
            <a:r>
              <a:rPr lang="en-US" sz="1800" dirty="0">
                <a:solidFill>
                  <a:schemeClr val="accent4"/>
                </a:solidFill>
              </a:rPr>
              <a:t>Wachter et al. 2017; Ustun et al. 2019; Gupta et al. 2019; Mothilal et al. 2020; Ding et al. 2021; Karimi et al. 2022 (full list in REPORT.md). Research audit on public survey data, not an eligibility system.</a:t>
            </a:r>
            <a:endParaRPr lang="en-US" sz="1800" dirty="0"/>
          </a:p>
        </p:txBody>
      </p:sp>
      <p:sp>
        <p:nvSpPr>
          <p:cNvPr id="125" name="marker 2">
            <a:extLst>
              <a:ext uri="{FF2B5EF4-FFF2-40B4-BE49-F238E27FC236}">
                <a16:creationId xmlns:a16="http://schemas.microsoft.com/office/drawing/2014/main" id="{9C34855D-6F81-9EA3-A7CD-93AC840763D5}"/>
              </a:ext>
            </a:extLst>
          </p:cNvPr>
          <p:cNvSpPr/>
          <p:nvPr/>
        </p:nvSpPr>
        <p:spPr>
          <a:xfrm>
            <a:off x="731520" y="103098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26">
            <a:extLst>
              <a:ext uri="{FF2B5EF4-FFF2-40B4-BE49-F238E27FC236}">
                <a16:creationId xmlns:a16="http://schemas.microsoft.com/office/drawing/2014/main" id="{4A1C945D-692A-02A5-87B3-E285221517AB}"/>
              </a:ext>
            </a:extLst>
          </p:cNvPr>
          <p:cNvSpPr txBox="1"/>
          <p:nvPr/>
        </p:nvSpPr>
        <p:spPr>
          <a:xfrm>
            <a:off x="731520" y="103098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AB05CB9-7EA7-7695-C730-F0EA91DF4FDD}"/>
              </a:ext>
            </a:extLst>
          </p:cNvPr>
          <p:cNvSpPr txBox="1"/>
          <p:nvPr/>
        </p:nvSpPr>
        <p:spPr>
          <a:xfrm>
            <a:off x="1691640" y="1026414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The question</a:t>
            </a:r>
            <a:endParaRPr lang="en-US" sz="3600" dirty="0"/>
          </a:p>
        </p:txBody>
      </p:sp>
      <p:sp>
        <p:nvSpPr>
          <p:cNvPr id="129" name="question card">
            <a:extLst>
              <a:ext uri="{FF2B5EF4-FFF2-40B4-BE49-F238E27FC236}">
                <a16:creationId xmlns:a16="http://schemas.microsoft.com/office/drawing/2014/main" id="{A554A0E1-B3AD-EC66-3006-09F1FCBC62AD}"/>
              </a:ext>
            </a:extLst>
          </p:cNvPr>
          <p:cNvSpPr/>
          <p:nvPr/>
        </p:nvSpPr>
        <p:spPr>
          <a:xfrm>
            <a:off x="546100" y="11224260"/>
            <a:ext cx="9143577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49E90DFD-71B1-D871-15B4-971573D002B1}"/>
              </a:ext>
            </a:extLst>
          </p:cNvPr>
          <p:cNvSpPr txBox="1"/>
          <p:nvPr/>
        </p:nvSpPr>
        <p:spPr>
          <a:xfrm>
            <a:off x="866140" y="11452860"/>
            <a:ext cx="85397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tools suggest how to reverse an automated denial, is the path realistic, and equally open to every group? Do findings from the 1994 benchmark still hold in 2023?</a:t>
            </a:r>
            <a:endParaRPr lang="en-US" sz="2600" dirty="0"/>
          </a:p>
        </p:txBody>
      </p:sp>
      <p:sp>
        <p:nvSpPr>
          <p:cNvPr id="131" name="Text 30">
            <a:extLst>
              <a:ext uri="{FF2B5EF4-FFF2-40B4-BE49-F238E27FC236}">
                <a16:creationId xmlns:a16="http://schemas.microsoft.com/office/drawing/2014/main" id="{329DEA71-7647-06B2-126E-B5203285A705}"/>
              </a:ext>
            </a:extLst>
          </p:cNvPr>
          <p:cNvSpPr txBox="1"/>
          <p:nvPr/>
        </p:nvSpPr>
        <p:spPr>
          <a:xfrm>
            <a:off x="610870" y="16464501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Models</a:t>
            </a:r>
            <a:endParaRPr lang="en-US" sz="2400" dirty="0"/>
          </a:p>
        </p:txBody>
      </p:sp>
      <p:sp>
        <p:nvSpPr>
          <p:cNvPr id="132" name="Text 31">
            <a:extLst>
              <a:ext uri="{FF2B5EF4-FFF2-40B4-BE49-F238E27FC236}">
                <a16:creationId xmlns:a16="http://schemas.microsoft.com/office/drawing/2014/main" id="{962F83A8-20F7-CE9F-7DB5-18B726A3A734}"/>
              </a:ext>
            </a:extLst>
          </p:cNvPr>
          <p:cNvSpPr txBox="1"/>
          <p:nvPr/>
        </p:nvSpPr>
        <p:spPr>
          <a:xfrm>
            <a:off x="2851150" y="16464501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/>
              <a:t>Gradient boosting and logistic regression. Sex and race are not model inputs</a:t>
            </a:r>
          </a:p>
        </p:txBody>
      </p:sp>
      <p:sp>
        <p:nvSpPr>
          <p:cNvPr id="133" name="Text 36">
            <a:extLst>
              <a:ext uri="{FF2B5EF4-FFF2-40B4-BE49-F238E27FC236}">
                <a16:creationId xmlns:a16="http://schemas.microsoft.com/office/drawing/2014/main" id="{B32DEABB-5159-8791-1ABD-2838CEBA4A59}"/>
              </a:ext>
            </a:extLst>
          </p:cNvPr>
          <p:cNvSpPr txBox="1"/>
          <p:nvPr/>
        </p:nvSpPr>
        <p:spPr>
          <a:xfrm>
            <a:off x="10949940" y="6457951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chemeClr val="accent2"/>
                </a:solidFill>
              </a:rPr>
              <a:t>They were 6 percentage points less likely than 30–49-year-olds to have one in 1994, and 47 points less likely in 2023.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134" name="marker 7"/>
          <p:cNvSpPr/>
          <p:nvPr/>
        </p:nvSpPr>
        <p:spPr>
          <a:xfrm>
            <a:off x="22494240" y="195681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14"/>
          <p:cNvSpPr txBox="1"/>
          <p:nvPr/>
        </p:nvSpPr>
        <p:spPr>
          <a:xfrm>
            <a:off x="22494240" y="19568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7</a:t>
            </a:r>
            <a:endParaRPr lang="en-US" sz="3000" dirty="0"/>
          </a:p>
        </p:txBody>
      </p:sp>
      <p:sp>
        <p:nvSpPr>
          <p:cNvPr id="136" name="Text 115"/>
          <p:cNvSpPr txBox="1"/>
          <p:nvPr/>
        </p:nvSpPr>
        <p:spPr>
          <a:xfrm>
            <a:off x="23454360" y="19522439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Limitations</a:t>
            </a:r>
            <a:endParaRPr lang="en-US" sz="3600" dirty="0"/>
          </a:p>
        </p:txBody>
      </p:sp>
      <p:sp>
        <p:nvSpPr>
          <p:cNvPr id="137" name="Text 116"/>
          <p:cNvSpPr txBox="1"/>
          <p:nvPr/>
        </p:nvSpPr>
        <p:spPr>
          <a:xfrm>
            <a:off x="22494240" y="2048256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Income is a proxy label: in real benefit programs, lower income qualifies.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Costs and what counts as “immutable” are judgment calls.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ke Recourse Audit">
  <a:themeElements>
    <a:clrScheme name="Duke Recourse Audit">
      <a:dk1>
        <a:srgbClr val="262626"/>
      </a:dk1>
      <a:lt1>
        <a:srgbClr val="FFFFFF"/>
      </a:lt1>
      <a:dk2>
        <a:srgbClr val="012169"/>
      </a:dk2>
      <a:lt2>
        <a:srgbClr val="F3F2F1"/>
      </a:lt2>
      <a:accent1>
        <a:srgbClr val="0577B1"/>
      </a:accent1>
      <a:accent2>
        <a:srgbClr val="C84E00"/>
      </a:accent2>
      <a:accent3>
        <a:srgbClr val="339898"/>
      </a:accent3>
      <a:accent4>
        <a:srgbClr val="666666"/>
      </a:accent4>
      <a:accent5>
        <a:srgbClr val="FFD960"/>
      </a:accent5>
      <a:accent6>
        <a:srgbClr val="B5B5B5"/>
      </a:accent6>
      <a:hlink>
        <a:srgbClr val="0577B1"/>
      </a:hlink>
      <a:folHlink>
        <a:srgbClr val="012169"/>
      </a:folHlink>
    </a:clrScheme>
    <a:fontScheme name="Duke Recourse Aud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666</Words>
  <Application>Microsoft Macintosh PowerPoint</Application>
  <PresentationFormat>Custom</PresentationFormat>
  <Paragraphs>86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Duke Recourse Audit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Recourse Equally Open to Everyone?</dc:title>
  <dc:subject>PptxGenJS Presentation</dc:subject>
  <dc:creator>Ogechukwu Ezenwa</dc:creator>
  <cp:lastModifiedBy>Oge Ezenwa</cp:lastModifiedBy>
  <cp:revision>5</cp:revision>
  <dcterms:created xsi:type="dcterms:W3CDTF">2026-10-11T15:15:47Z</dcterms:created>
  <dcterms:modified xsi:type="dcterms:W3CDTF">2026-10-12T16:29:17Z</dcterms:modified>
</cp:coreProperties>
</file>