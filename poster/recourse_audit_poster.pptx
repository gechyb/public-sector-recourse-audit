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b996ecc2-9f13-649d-e3b9-5e9fb458c8c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 30</c:v>
                </c:pt>
              </c:strCache>
            </c:strRef>
          </c:tx>
          <c:spPr>
            <a:solidFill>
              <a:srgbClr val="D1495B"/>
            </a:solidFill>
            <a:ln w="5080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0.0094</c:v>
                </c:pt>
                <c:pt idx="5">
                  <c:v>0.0142</c:v>
                </c:pt>
                <c:pt idx="6">
                  <c:v>0.0189</c:v>
                </c:pt>
                <c:pt idx="7">
                  <c:v>0.0425</c:v>
                </c:pt>
                <c:pt idx="8">
                  <c:v>0.0519</c:v>
                </c:pt>
                <c:pt idx="9">
                  <c:v>0.0755</c:v>
                </c:pt>
                <c:pt idx="10">
                  <c:v>0.0755</c:v>
                </c:pt>
                <c:pt idx="11">
                  <c:v>0.0802</c:v>
                </c:pt>
                <c:pt idx="12">
                  <c:v>0.0802</c:v>
                </c:pt>
                <c:pt idx="13">
                  <c:v>0.0802</c:v>
                </c:pt>
                <c:pt idx="14">
                  <c:v>0.0802</c:v>
                </c:pt>
                <c:pt idx="15">
                  <c:v>0.1038</c:v>
                </c:pt>
                <c:pt idx="16">
                  <c:v>0.1038</c:v>
                </c:pt>
                <c:pt idx="17">
                  <c:v>0.1179</c:v>
                </c:pt>
                <c:pt idx="18">
                  <c:v>0.1179</c:v>
                </c:pt>
                <c:pt idx="19">
                  <c:v>0.1179</c:v>
                </c:pt>
                <c:pt idx="20">
                  <c:v>0.1179</c:v>
                </c:pt>
                <c:pt idx="21">
                  <c:v>0.1179</c:v>
                </c:pt>
                <c:pt idx="22">
                  <c:v>0.1179</c:v>
                </c:pt>
                <c:pt idx="23">
                  <c:v>0.1179</c:v>
                </c:pt>
                <c:pt idx="24">
                  <c:v>0.1179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30–49</c:v>
                </c:pt>
              </c:strCache>
            </c:strRef>
          </c:tx>
          <c:spPr>
            <a:solidFill>
              <a:srgbClr val="5A6472"/>
            </a:solidFill>
            <a:ln w="50800" cap="flat">
              <a:solidFill>
                <a:srgbClr val="5A64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472"/>
              </a:solidFill>
              <a:ln w="9525" cap="flat">
                <a:solidFill>
                  <a:srgbClr val="5A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0.068</c:v>
                </c:pt>
                <c:pt idx="2">
                  <c:v>0.1395</c:v>
                </c:pt>
                <c:pt idx="3">
                  <c:v>0.2483</c:v>
                </c:pt>
                <c:pt idx="4">
                  <c:v>0.3537</c:v>
                </c:pt>
                <c:pt idx="5">
                  <c:v>0.5238</c:v>
                </c:pt>
                <c:pt idx="6">
                  <c:v>0.5952</c:v>
                </c:pt>
                <c:pt idx="7">
                  <c:v>0.6667</c:v>
                </c:pt>
                <c:pt idx="8">
                  <c:v>0.7007</c:v>
                </c:pt>
                <c:pt idx="9">
                  <c:v>0.7517</c:v>
                </c:pt>
                <c:pt idx="10">
                  <c:v>0.7755</c:v>
                </c:pt>
                <c:pt idx="11">
                  <c:v>0.8163</c:v>
                </c:pt>
                <c:pt idx="12">
                  <c:v>0.8435</c:v>
                </c:pt>
                <c:pt idx="13">
                  <c:v>0.8571</c:v>
                </c:pt>
                <c:pt idx="14">
                  <c:v>0.8741</c:v>
                </c:pt>
                <c:pt idx="15">
                  <c:v>0.8776</c:v>
                </c:pt>
                <c:pt idx="16">
                  <c:v>0.8946</c:v>
                </c:pt>
                <c:pt idx="17">
                  <c:v>0.9218</c:v>
                </c:pt>
                <c:pt idx="18">
                  <c:v>0.9252</c:v>
                </c:pt>
                <c:pt idx="19">
                  <c:v>0.9252</c:v>
                </c:pt>
                <c:pt idx="20">
                  <c:v>0.932</c:v>
                </c:pt>
                <c:pt idx="21">
                  <c:v>0.9388</c:v>
                </c:pt>
                <c:pt idx="22">
                  <c:v>0.9388</c:v>
                </c:pt>
                <c:pt idx="23">
                  <c:v>0.9388</c:v>
                </c:pt>
                <c:pt idx="24">
                  <c:v>0.9388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50+</c:v>
                </c:pt>
              </c:strCache>
            </c:strRef>
          </c:tx>
          <c:spPr>
            <a:solidFill>
              <a:srgbClr val="B3BCC8"/>
            </a:solidFill>
            <a:ln w="50800" cap="flat">
              <a:solidFill>
                <a:srgbClr val="B3BC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3BCC8"/>
              </a:solidFill>
              <a:ln w="9525" cap="flat">
                <a:solidFill>
                  <a:srgbClr val="B3BC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0.085</c:v>
                </c:pt>
                <c:pt idx="2">
                  <c:v>0.1599</c:v>
                </c:pt>
                <c:pt idx="3">
                  <c:v>0.2891</c:v>
                </c:pt>
                <c:pt idx="4">
                  <c:v>0.4762</c:v>
                </c:pt>
                <c:pt idx="5">
                  <c:v>0.6327</c:v>
                </c:pt>
                <c:pt idx="6">
                  <c:v>0.7517</c:v>
                </c:pt>
                <c:pt idx="7">
                  <c:v>0.8299</c:v>
                </c:pt>
                <c:pt idx="8">
                  <c:v>0.8707</c:v>
                </c:pt>
                <c:pt idx="9">
                  <c:v>0.8946</c:v>
                </c:pt>
                <c:pt idx="10">
                  <c:v>0.9082</c:v>
                </c:pt>
                <c:pt idx="11">
                  <c:v>0.9354</c:v>
                </c:pt>
                <c:pt idx="12">
                  <c:v>0.9592</c:v>
                </c:pt>
                <c:pt idx="13">
                  <c:v>0.9762</c:v>
                </c:pt>
                <c:pt idx="14">
                  <c:v>0.9762</c:v>
                </c:pt>
                <c:pt idx="15">
                  <c:v>0.9796</c:v>
                </c:pt>
                <c:pt idx="16">
                  <c:v>0.9796</c:v>
                </c:pt>
                <c:pt idx="17">
                  <c:v>0.983</c:v>
                </c:pt>
                <c:pt idx="18">
                  <c:v>0.983</c:v>
                </c:pt>
                <c:pt idx="19">
                  <c:v>0.983</c:v>
                </c:pt>
                <c:pt idx="20">
                  <c:v>0.9864</c:v>
                </c:pt>
                <c:pt idx="21">
                  <c:v>0.9864</c:v>
                </c:pt>
                <c:pt idx="22">
                  <c:v>0.9864</c:v>
                </c:pt>
                <c:pt idx="23">
                  <c:v>0.9864</c:v>
                </c:pt>
                <c:pt idx="24">
                  <c:v>0.9864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5A6472"/>
                    </a:solidFill>
                    <a:latin typeface="+mn-lt"/>
                  </a:defRPr>
                </a:pPr>
                <a:r>
                  <a:rPr sz="1800" b="0" i="0" u="none" strike="noStrike">
                    <a:solidFill>
                      <a:srgbClr val="5A6472"/>
                    </a:solidFill>
                    <a:latin typeface="+mn-lt"/>
                  </a:rPr>
                  <a:t>allowed effort (1 = one year of school; audit budget = 6)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5DAE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5A6472"/>
                    </a:solidFill>
                    <a:latin typeface="+mn-lt"/>
                  </a:defRPr>
                </a:pPr>
                <a:r>
                  <a:rPr sz="1800" b="0" i="0" u="none" strike="noStrike">
                    <a:solidFill>
                      <a:srgbClr val="5A6472"/>
                    </a:solidFill>
                    <a:latin typeface="+mn-lt"/>
                  </a:rPr>
                  <a:t>denied with recourse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20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advice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Marital status</c:v>
                  </c:pt>
                  <c:pt idx="1">
                    <c:v>Age</c:v>
                  </c:pt>
                  <c:pt idx="2">
                    <c:v>Birthplace</c:v>
                  </c:pt>
                  <c:pt idx="3">
                    <c:v>Household role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0.5925</c:v>
                </c:pt>
                <c:pt idx="1">
                  <c:v>0.2976</c:v>
                </c:pt>
                <c:pt idx="2">
                  <c:v>0.0992</c:v>
                </c:pt>
                <c:pt idx="3">
                  <c:v>0.0697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2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2743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 Recourse Equally Open to Everyone?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2697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Auditing algorithmic recourse in public-sector-style eligibility decisions: the 1994 benchmark vs 2023 North Carolina census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2697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Ogechukwu Ezenwa</a:t>
            </a:r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   ·   AIPI 590: Advanced Topics in AIPI   ·   Duke University   ·   Fall 2026</a:t>
            </a:r>
            <a:endParaRPr lang="en-US" sz="2800" dirty="0"/>
          </a:p>
        </p:txBody>
      </p:sp>
      <p:pic>
        <p:nvPicPr>
          <p:cNvPr id="5" name="QR code" descr="QR code linking to the GitHub reposi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2280" y="548640"/>
            <a:ext cx="2514600" cy="2514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066240" y="3127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Code · app · full report</a:t>
            </a:r>
            <a:endParaRPr lang="en-US" sz="1800" dirty="0"/>
          </a:p>
        </p:txBody>
      </p:sp>
      <p:sp>
        <p:nvSpPr>
          <p:cNvPr id="7" name="marker 1"/>
          <p:cNvSpPr/>
          <p:nvPr/>
        </p:nvSpPr>
        <p:spPr>
          <a:xfrm>
            <a:off x="731520" y="393192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9319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913632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is recourse?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892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If a model denies you, recourse is a change you could make to get approved.</a:t>
            </a:r>
            <a:endParaRPr lang="en-US" sz="2400" dirty="0"/>
          </a:p>
        </p:txBody>
      </p:sp>
      <p:sp>
        <p:nvSpPr>
          <p:cNvPr id="11" name="denied pill"/>
          <p:cNvSpPr/>
          <p:nvPr/>
        </p:nvSpPr>
        <p:spPr>
          <a:xfrm>
            <a:off x="731520" y="5806440"/>
            <a:ext cx="411480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59710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DENIED</a:t>
            </a:r>
            <a:endParaRPr lang="en-US" sz="20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works 40 hours/week</a:t>
            </a:r>
            <a:endParaRPr lang="en-US" sz="2000" dirty="0"/>
          </a:p>
        </p:txBody>
      </p:sp>
      <p:sp>
        <p:nvSpPr>
          <p:cNvPr id="13" name="arrow"/>
          <p:cNvSpPr/>
          <p:nvPr/>
        </p:nvSpPr>
        <p:spPr>
          <a:xfrm>
            <a:off x="5074920" y="6172200"/>
            <a:ext cx="1005840" cy="4572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approved pill"/>
          <p:cNvSpPr/>
          <p:nvPr/>
        </p:nvSpPr>
        <p:spPr>
          <a:xfrm>
            <a:off x="6309360" y="5806440"/>
            <a:ext cx="411480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59710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APPROVED</a:t>
            </a:r>
            <a:endParaRPr lang="en-US" sz="20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works 45 hours/week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72237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An explanation says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why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you were denied. Recourse says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what you can do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. “Be older” or “get married” may flip the model, but it is not recourse: no one can act on it.</a:t>
            </a:r>
            <a:endParaRPr lang="en-US" sz="2400" dirty="0"/>
          </a:p>
        </p:txBody>
      </p:sp>
      <p:sp>
        <p:nvSpPr>
          <p:cNvPr id="17" name="marker 2"/>
          <p:cNvSpPr/>
          <p:nvPr/>
        </p:nvSpPr>
        <p:spPr>
          <a:xfrm>
            <a:off x="731520" y="914400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91440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9125712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question</a:t>
            </a:r>
            <a:endParaRPr lang="en-US" sz="3800" dirty="0"/>
          </a:p>
        </p:txBody>
      </p:sp>
      <p:sp>
        <p:nvSpPr>
          <p:cNvPr id="20" name="question card"/>
          <p:cNvSpPr/>
          <p:nvPr/>
        </p:nvSpPr>
        <p:spPr>
          <a:xfrm>
            <a:off x="731520" y="10104120"/>
            <a:ext cx="96926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10332720"/>
            <a:ext cx="9052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When tools suggest how to reverse an automated denial, is the path realistic, and equally open to every group? Do findings from the 1994 benchmark still hold in 2023?</a:t>
            </a:r>
            <a:endParaRPr lang="en-US" sz="2600" dirty="0"/>
          </a:p>
        </p:txBody>
      </p:sp>
      <p:sp>
        <p:nvSpPr>
          <p:cNvPr id="22" name="marker 3"/>
          <p:cNvSpPr/>
          <p:nvPr/>
        </p:nvSpPr>
        <p:spPr>
          <a:xfrm>
            <a:off x="731520" y="1243584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12435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1691640" y="12417552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the audit works</a:t>
            </a:r>
            <a:endParaRPr lang="en-US" sz="3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1339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2880360" y="13395960"/>
            <a:ext cx="7543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UCI Adult 1994 (48,842 people) and ACS North Carolina 2023 (56,486 workers). “Approved” = income above $50K in 1994, $103K in 2023 (the same bar in 2023 dollars).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14859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Models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2880360" y="1485900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Gradient boosting and logistic regression. Sex and race are not model inputs.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16002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Realistic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2880360" y="16002000"/>
            <a:ext cx="7543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Cheapest change within 6 effort units (1 = a year of school), touching only what a person can change. Immutable: age, marital status, household role, birthplace, capital gains. Up only: education. Bounded: hours, work sector, occupation.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17785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Off-the-shelf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2880360" y="1778508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Any feature may change, cheapest by plain distance, as generic counterfactual tools do.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18928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Statistics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2880360" y="1892808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~800 denied applicants per dataset; 95% bootstrap CIs; groups compared at the same starting distance from approval.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10972800" y="39319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Young applicants have almost no path to approval, </a:t>
            </a:r>
            <a:pPr indent="0" marL="0">
              <a:buNone/>
            </a:pPr>
            <a:r>
              <a:rPr lang="en-US" sz="4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and the gap grew</a:t>
            </a:r>
            <a:endParaRPr lang="en-US" sz="4600" dirty="0"/>
          </a:p>
        </p:txBody>
      </p:sp>
      <p:sp>
        <p:nvSpPr>
          <p:cNvPr id="36" name="Text 33"/>
          <p:cNvSpPr txBox="1"/>
          <p:nvPr/>
        </p:nvSpPr>
        <p:spPr>
          <a:xfrm>
            <a:off x="10972800" y="55321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8%</a:t>
            </a:r>
            <a:endParaRPr lang="en-US" sz="8000" dirty="0"/>
          </a:p>
        </p:txBody>
      </p:sp>
      <p:sp>
        <p:nvSpPr>
          <p:cNvPr id="37" name="Text 34"/>
          <p:cNvSpPr txBox="1"/>
          <p:nvPr/>
        </p:nvSpPr>
        <p:spPr>
          <a:xfrm>
            <a:off x="10972800" y="6720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of denied under-30s have realistic recourse (2023)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14630400" y="55321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84%</a:t>
            </a:r>
            <a:endParaRPr lang="en-US" sz="8000" dirty="0"/>
          </a:p>
        </p:txBody>
      </p:sp>
      <p:sp>
        <p:nvSpPr>
          <p:cNvPr id="39" name="Text 36"/>
          <p:cNvSpPr txBox="1"/>
          <p:nvPr/>
        </p:nvSpPr>
        <p:spPr>
          <a:xfrm>
            <a:off x="14630400" y="6720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of denied 30–49-year-olds do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18288000" y="55321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−47 pp</a:t>
            </a:r>
            <a:endParaRPr lang="en-US" sz="8000" dirty="0"/>
          </a:p>
        </p:txBody>
      </p:sp>
      <p:sp>
        <p:nvSpPr>
          <p:cNvPr id="41" name="Text 38"/>
          <p:cNvSpPr txBox="1"/>
          <p:nvPr/>
        </p:nvSpPr>
        <p:spPr>
          <a:xfrm>
            <a:off x="18288000" y="6720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gap at the same starting distance (2023), up from −6 pp in 1994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10972800" y="8092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Recourse gap vs the largest group, compared at the same starting distance (95% CI)</a:t>
            </a:r>
            <a:endParaRPr lang="en-US" sz="2200" dirty="0"/>
          </a:p>
        </p:txBody>
      </p:sp>
      <p:sp>
        <p:nvSpPr>
          <p:cNvPr id="43" name="under-30 highlight"/>
          <p:cNvSpPr/>
          <p:nvPr/>
        </p:nvSpPr>
        <p:spPr>
          <a:xfrm>
            <a:off x="10972800" y="13414248"/>
            <a:ext cx="10972800" cy="1170432"/>
          </a:xfrm>
          <a:prstGeom prst="rect">
            <a:avLst/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461008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415288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-60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550416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504696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-50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639824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594104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-40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729232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683512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-30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818640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772920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-20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908048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862328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-10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9974560" y="8732520"/>
            <a:ext cx="0" cy="585216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951736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0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2086864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041144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+10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21762720" y="8732520"/>
            <a:ext cx="0" cy="585216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305520" y="1465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+20</a:t>
            </a:r>
            <a:endParaRPr lang="en-US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13716000" y="150235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percentage points</a:t>
            </a:r>
            <a:endParaRPr lang="en-US" sz="1800" dirty="0"/>
          </a:p>
        </p:txBody>
      </p:sp>
      <p:sp>
        <p:nvSpPr>
          <p:cNvPr id="63" name="Text 60"/>
          <p:cNvSpPr txBox="1"/>
          <p:nvPr/>
        </p:nvSpPr>
        <p:spPr>
          <a:xfrm>
            <a:off x="10972800" y="90891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Women vs men</a:t>
            </a:r>
            <a:endParaRPr lang="en-US" sz="2200" dirty="0"/>
          </a:p>
        </p:txBody>
      </p:sp>
      <p:sp>
        <p:nvSpPr>
          <p:cNvPr id="64" name="Shape 61"/>
          <p:cNvSpPr/>
          <p:nvPr/>
        </p:nvSpPr>
        <p:spPr>
          <a:xfrm>
            <a:off x="19697395" y="9015984"/>
            <a:ext cx="813613" cy="0"/>
          </a:xfrm>
          <a:prstGeom prst="line">
            <a:avLst/>
          </a:prstGeom>
          <a:noFill/>
          <a:ln w="63500">
            <a:solidFill>
              <a:srgbClr val="8C96A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9971715" y="8887968"/>
            <a:ext cx="256032" cy="256032"/>
          </a:xfrm>
          <a:prstGeom prst="ellipse">
            <a:avLst/>
          </a:prstGeom>
          <a:solidFill>
            <a:srgbClr val="8C9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0269606" y="9317736"/>
            <a:ext cx="885139" cy="0"/>
          </a:xfrm>
          <a:prstGeom prst="line">
            <a:avLst/>
          </a:prstGeom>
          <a:noFill/>
          <a:ln w="63500">
            <a:solidFill>
              <a:srgbClr val="5B3FD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0561808" y="9189720"/>
            <a:ext cx="256032" cy="256032"/>
          </a:xfrm>
          <a:prstGeom prst="ellipse">
            <a:avLst/>
          </a:prstGeom>
          <a:solidFill>
            <a:srgbClr val="5B3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0037146" y="9619488"/>
            <a:ext cx="572211" cy="0"/>
          </a:xfrm>
          <a:prstGeom prst="line">
            <a:avLst/>
          </a:prstGeom>
          <a:noFill/>
          <a:ln w="63500">
            <a:solidFill>
              <a:srgbClr val="B9AEE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0195235" y="9491472"/>
            <a:ext cx="256032" cy="256032"/>
          </a:xfrm>
          <a:prstGeom prst="ellipse">
            <a:avLst/>
          </a:prstGeom>
          <a:solidFill>
            <a:srgbClr val="B9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972800" y="10259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Black vs White</a:t>
            </a:r>
            <a:endParaRPr lang="en-US" sz="2200" dirty="0"/>
          </a:p>
        </p:txBody>
      </p:sp>
      <p:sp>
        <p:nvSpPr>
          <p:cNvPr id="71" name="Shape 68"/>
          <p:cNvSpPr/>
          <p:nvPr/>
        </p:nvSpPr>
        <p:spPr>
          <a:xfrm>
            <a:off x="19178829" y="10186416"/>
            <a:ext cx="1001370" cy="0"/>
          </a:xfrm>
          <a:prstGeom prst="line">
            <a:avLst/>
          </a:prstGeom>
          <a:noFill/>
          <a:ln w="63500">
            <a:solidFill>
              <a:srgbClr val="8C96A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9542557" y="10058400"/>
            <a:ext cx="256032" cy="256032"/>
          </a:xfrm>
          <a:prstGeom prst="ellipse">
            <a:avLst/>
          </a:prstGeom>
          <a:solidFill>
            <a:srgbClr val="8C9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9223533" y="10488168"/>
            <a:ext cx="1314298" cy="0"/>
          </a:xfrm>
          <a:prstGeom prst="line">
            <a:avLst/>
          </a:prstGeom>
          <a:noFill/>
          <a:ln w="63500">
            <a:solidFill>
              <a:srgbClr val="5B3FD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9748195" y="10360152"/>
            <a:ext cx="256032" cy="256032"/>
          </a:xfrm>
          <a:prstGeom prst="ellipse">
            <a:avLst/>
          </a:prstGeom>
          <a:solidFill>
            <a:srgbClr val="5B3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9563283" y="10789920"/>
            <a:ext cx="858317" cy="0"/>
          </a:xfrm>
          <a:prstGeom prst="line">
            <a:avLst/>
          </a:prstGeom>
          <a:noFill/>
          <a:ln w="63500">
            <a:solidFill>
              <a:srgbClr val="B9AEE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9864426" y="10661904"/>
            <a:ext cx="256032" cy="256032"/>
          </a:xfrm>
          <a:prstGeom prst="ellipse">
            <a:avLst/>
          </a:prstGeom>
          <a:solidFill>
            <a:srgbClr val="B9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0972800" y="11430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Other race vs White</a:t>
            </a:r>
            <a:endParaRPr lang="en-US" sz="2200" dirty="0"/>
          </a:p>
        </p:txBody>
      </p:sp>
      <p:sp>
        <p:nvSpPr>
          <p:cNvPr id="78" name="Shape 75"/>
          <p:cNvSpPr/>
          <p:nvPr/>
        </p:nvSpPr>
        <p:spPr>
          <a:xfrm>
            <a:off x="19286118" y="11356848"/>
            <a:ext cx="1072896" cy="0"/>
          </a:xfrm>
          <a:prstGeom prst="line">
            <a:avLst/>
          </a:prstGeom>
          <a:noFill/>
          <a:ln w="63500">
            <a:solidFill>
              <a:srgbClr val="8C96A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9676669" y="11228832"/>
            <a:ext cx="256032" cy="256032"/>
          </a:xfrm>
          <a:prstGeom prst="ellipse">
            <a:avLst/>
          </a:prstGeom>
          <a:solidFill>
            <a:srgbClr val="8C9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8928486" y="11658600"/>
            <a:ext cx="1189126" cy="0"/>
          </a:xfrm>
          <a:prstGeom prst="line">
            <a:avLst/>
          </a:prstGeom>
          <a:noFill/>
          <a:ln w="63500">
            <a:solidFill>
              <a:srgbClr val="5B3FD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9390563" y="11530584"/>
            <a:ext cx="256032" cy="256032"/>
          </a:xfrm>
          <a:prstGeom prst="ellipse">
            <a:avLst/>
          </a:prstGeom>
          <a:solidFill>
            <a:srgbClr val="5B3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9652691" y="11960352"/>
            <a:ext cx="867258" cy="0"/>
          </a:xfrm>
          <a:prstGeom prst="line">
            <a:avLst/>
          </a:prstGeom>
          <a:noFill/>
          <a:ln w="63500">
            <a:solidFill>
              <a:srgbClr val="B9AEE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9935952" y="11832336"/>
            <a:ext cx="256032" cy="256032"/>
          </a:xfrm>
          <a:prstGeom prst="ellipse">
            <a:avLst/>
          </a:prstGeom>
          <a:solidFill>
            <a:srgbClr val="B9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0972800" y="12600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Age 50+ vs 30–49</a:t>
            </a:r>
            <a:endParaRPr lang="en-US" sz="2200" dirty="0"/>
          </a:p>
        </p:txBody>
      </p:sp>
      <p:sp>
        <p:nvSpPr>
          <p:cNvPr id="85" name="Shape 82"/>
          <p:cNvSpPr/>
          <p:nvPr/>
        </p:nvSpPr>
        <p:spPr>
          <a:xfrm>
            <a:off x="19178829" y="12527280"/>
            <a:ext cx="1081837" cy="0"/>
          </a:xfrm>
          <a:prstGeom prst="line">
            <a:avLst/>
          </a:prstGeom>
          <a:noFill/>
          <a:ln w="63500">
            <a:solidFill>
              <a:srgbClr val="8C96A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9596202" y="12399264"/>
            <a:ext cx="256032" cy="256032"/>
          </a:xfrm>
          <a:prstGeom prst="ellipse">
            <a:avLst/>
          </a:prstGeom>
          <a:solidFill>
            <a:srgbClr val="8C9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0332192" y="12829032"/>
            <a:ext cx="679501" cy="0"/>
          </a:xfrm>
          <a:prstGeom prst="line">
            <a:avLst/>
          </a:prstGeom>
          <a:noFill/>
          <a:ln w="63500">
            <a:solidFill>
              <a:srgbClr val="5B3FD1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0543926" y="12701016"/>
            <a:ext cx="256032" cy="256032"/>
          </a:xfrm>
          <a:prstGeom prst="ellipse">
            <a:avLst/>
          </a:prstGeom>
          <a:solidFill>
            <a:srgbClr val="5B3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9885152" y="13130784"/>
            <a:ext cx="286106" cy="0"/>
          </a:xfrm>
          <a:prstGeom prst="line">
            <a:avLst/>
          </a:prstGeom>
          <a:noFill/>
          <a:ln w="63500">
            <a:solidFill>
              <a:srgbClr val="B9AEE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9891248" y="13002768"/>
            <a:ext cx="256032" cy="256032"/>
          </a:xfrm>
          <a:prstGeom prst="ellipse">
            <a:avLst/>
          </a:prstGeom>
          <a:solidFill>
            <a:srgbClr val="B9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0972800" y="137708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Under 30 vs 30–49</a:t>
            </a:r>
            <a:endParaRPr lang="en-US" sz="2200" dirty="0"/>
          </a:p>
        </p:txBody>
      </p:sp>
      <p:sp>
        <p:nvSpPr>
          <p:cNvPr id="92" name="Shape 89"/>
          <p:cNvSpPr/>
          <p:nvPr/>
        </p:nvSpPr>
        <p:spPr>
          <a:xfrm>
            <a:off x="19134125" y="13697712"/>
            <a:ext cx="616915" cy="0"/>
          </a:xfrm>
          <a:prstGeom prst="line">
            <a:avLst/>
          </a:prstGeom>
          <a:noFill/>
          <a:ln w="63500">
            <a:solidFill>
              <a:srgbClr val="8C96A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9310096" y="13569696"/>
            <a:ext cx="256032" cy="256032"/>
          </a:xfrm>
          <a:prstGeom prst="ellipse">
            <a:avLst/>
          </a:prstGeom>
          <a:solidFill>
            <a:srgbClr val="8C9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4207744" y="13999464"/>
            <a:ext cx="3030931" cy="0"/>
          </a:xfrm>
          <a:prstGeom prst="line">
            <a:avLst/>
          </a:prstGeom>
          <a:noFill/>
          <a:ln w="63500">
            <a:solidFill>
              <a:srgbClr val="5B3FD1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5608605" y="13871448"/>
            <a:ext cx="256032" cy="256032"/>
          </a:xfrm>
          <a:prstGeom prst="ellipse">
            <a:avLst/>
          </a:prstGeom>
          <a:solidFill>
            <a:srgbClr val="5B3F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5790266" y="14301216"/>
            <a:ext cx="1797101" cy="0"/>
          </a:xfrm>
          <a:prstGeom prst="line">
            <a:avLst/>
          </a:prstGeom>
          <a:noFill/>
          <a:ln w="63500">
            <a:solidFill>
              <a:srgbClr val="B9AEE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6547389" y="14173200"/>
            <a:ext cx="256032" cy="256032"/>
          </a:xfrm>
          <a:prstGeom prst="ellipse">
            <a:avLst/>
          </a:prstGeom>
          <a:solidFill>
            <a:srgbClr val="B9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3716000" y="15526512"/>
            <a:ext cx="256032" cy="256032"/>
          </a:xfrm>
          <a:prstGeom prst="ellipse">
            <a:avLst/>
          </a:prstGeom>
          <a:solidFill>
            <a:srgbClr val="8C96A3"/>
          </a:solidFill>
          <a:ln w="12700">
            <a:solidFill>
              <a:srgbClr val="8C96A3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14081760" y="1545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1994 (Adult)</a:t>
            </a:r>
            <a:endParaRPr lang="en-US" sz="1800" dirty="0"/>
          </a:p>
        </p:txBody>
      </p:sp>
      <p:sp>
        <p:nvSpPr>
          <p:cNvPr id="100" name="Shape 97"/>
          <p:cNvSpPr/>
          <p:nvPr/>
        </p:nvSpPr>
        <p:spPr>
          <a:xfrm>
            <a:off x="16459200" y="15526512"/>
            <a:ext cx="256032" cy="256032"/>
          </a:xfrm>
          <a:prstGeom prst="ellipse">
            <a:avLst/>
          </a:prstGeom>
          <a:solidFill>
            <a:srgbClr val="5B3FD1"/>
          </a:solidFill>
          <a:ln w="12700">
            <a:solidFill>
              <a:srgbClr val="5B3FD1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16824960" y="1545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2023, $103K bar</a:t>
            </a:r>
            <a:endParaRPr lang="en-US" sz="1800" dirty="0"/>
          </a:p>
        </p:txBody>
      </p:sp>
      <p:sp>
        <p:nvSpPr>
          <p:cNvPr id="102" name="Shape 99"/>
          <p:cNvSpPr/>
          <p:nvPr/>
        </p:nvSpPr>
        <p:spPr>
          <a:xfrm>
            <a:off x="19202400" y="15526512"/>
            <a:ext cx="256032" cy="256032"/>
          </a:xfrm>
          <a:prstGeom prst="ellipse">
            <a:avLst/>
          </a:prstGeom>
          <a:solidFill>
            <a:srgbClr val="B9AEEF"/>
          </a:solidFill>
          <a:ln w="12700">
            <a:solidFill>
              <a:srgbClr val="B9AEEF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9568160" y="1545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2023, $50K bar</a:t>
            </a:r>
            <a:endParaRPr lang="en-US" sz="1800" dirty="0"/>
          </a:p>
        </p:txBody>
      </p:sp>
      <p:sp>
        <p:nvSpPr>
          <p:cNvPr id="104" name="Text 101"/>
          <p:cNvSpPr txBox="1"/>
          <p:nvPr/>
        </p:nvSpPr>
        <p:spPr>
          <a:xfrm>
            <a:off x="10972800" y="1618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More effort does not close the gap (2023)</a:t>
            </a:r>
            <a:endParaRPr lang="en-US" sz="2200" dirty="0"/>
          </a:p>
        </p:txBody>
      </p:sp>
      <p:graphicFrame>
        <p:nvGraphicFramePr>
          <p:cNvPr id="105" name="budget curves chart" descr=""/>
          <p:cNvGraphicFramePr/>
          <p:nvPr/>
        </p:nvGraphicFramePr>
        <p:xfrm>
          <a:off x="10972800" y="16642080"/>
          <a:ext cx="10972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6" name="marker 4"/>
          <p:cNvSpPr/>
          <p:nvPr/>
        </p:nvSpPr>
        <p:spPr>
          <a:xfrm>
            <a:off x="22494240" y="393192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7" name="Text 103"/>
          <p:cNvSpPr txBox="1"/>
          <p:nvPr/>
        </p:nvSpPr>
        <p:spPr>
          <a:xfrm>
            <a:off x="22494240" y="39319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000" dirty="0"/>
          </a:p>
        </p:txBody>
      </p:sp>
      <p:sp>
        <p:nvSpPr>
          <p:cNvPr id="108" name="Text 104"/>
          <p:cNvSpPr txBox="1"/>
          <p:nvPr/>
        </p:nvSpPr>
        <p:spPr>
          <a:xfrm>
            <a:off x="23454360" y="3913632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Off-the-shelf advice is mostly impossible</a:t>
            </a:r>
            <a:endParaRPr lang="en-US" sz="3800" dirty="0"/>
          </a:p>
        </p:txBody>
      </p:sp>
      <p:sp>
        <p:nvSpPr>
          <p:cNvPr id="109" name="Text 105"/>
          <p:cNvSpPr txBox="1"/>
          <p:nvPr/>
        </p:nvSpPr>
        <p:spPr>
          <a:xfrm>
            <a:off x="22494240" y="544068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95%</a:t>
            </a:r>
            <a:endParaRPr lang="en-US" sz="8000" dirty="0"/>
          </a:p>
        </p:txBody>
      </p:sp>
      <p:sp>
        <p:nvSpPr>
          <p:cNvPr id="110" name="Text 106"/>
          <p:cNvSpPr txBox="1"/>
          <p:nvPr/>
        </p:nvSpPr>
        <p:spPr>
          <a:xfrm>
            <a:off x="22494240" y="6629400"/>
            <a:ext cx="309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of its advice breaks a rule (1994)</a:t>
            </a:r>
            <a:endParaRPr lang="en-US" sz="2000" dirty="0"/>
          </a:p>
        </p:txBody>
      </p:sp>
      <p:sp>
        <p:nvSpPr>
          <p:cNvPr id="111" name="Text 107"/>
          <p:cNvSpPr txBox="1"/>
          <p:nvPr/>
        </p:nvSpPr>
        <p:spPr>
          <a:xfrm>
            <a:off x="25725120" y="544068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77%</a:t>
            </a:r>
            <a:endParaRPr lang="en-US" sz="8000" dirty="0"/>
          </a:p>
        </p:txBody>
      </p:sp>
      <p:sp>
        <p:nvSpPr>
          <p:cNvPr id="112" name="Text 108"/>
          <p:cNvSpPr txBox="1"/>
          <p:nvPr/>
        </p:nvSpPr>
        <p:spPr>
          <a:xfrm>
            <a:off x="25725120" y="6629400"/>
            <a:ext cx="309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with capital gains held fixed</a:t>
            </a:r>
            <a:endParaRPr lang="en-US" sz="2000" dirty="0"/>
          </a:p>
        </p:txBody>
      </p:sp>
      <p:sp>
        <p:nvSpPr>
          <p:cNvPr id="113" name="Text 109"/>
          <p:cNvSpPr txBox="1"/>
          <p:nvPr/>
        </p:nvSpPr>
        <p:spPr>
          <a:xfrm>
            <a:off x="28956000" y="544068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42%</a:t>
            </a:r>
            <a:endParaRPr lang="en-US" sz="8000" dirty="0"/>
          </a:p>
        </p:txBody>
      </p:sp>
      <p:sp>
        <p:nvSpPr>
          <p:cNvPr id="114" name="Text 110"/>
          <p:cNvSpPr txBox="1"/>
          <p:nvPr/>
        </p:nvSpPr>
        <p:spPr>
          <a:xfrm>
            <a:off x="28956000" y="6629400"/>
            <a:ext cx="309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in 2023 data</a:t>
            </a:r>
            <a:endParaRPr lang="en-US" sz="2000" dirty="0"/>
          </a:p>
        </p:txBody>
      </p:sp>
      <p:sp>
        <p:nvSpPr>
          <p:cNvPr id="115" name="Text 111"/>
          <p:cNvSpPr txBox="1"/>
          <p:nvPr/>
        </p:nvSpPr>
        <p:spPr>
          <a:xfrm>
            <a:off x="22494240" y="7818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it tells people to change (1994, capital gains fixed)</a:t>
            </a:r>
            <a:endParaRPr lang="en-US" sz="2000" dirty="0"/>
          </a:p>
        </p:txBody>
      </p:sp>
      <p:graphicFrame>
        <p:nvGraphicFramePr>
          <p:cNvPr id="116" name="what it asks chart" descr=""/>
          <p:cNvGraphicFramePr/>
          <p:nvPr/>
        </p:nvGraphicFramePr>
        <p:xfrm>
          <a:off x="22494240" y="8229600"/>
          <a:ext cx="96926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7" name="be older callout"/>
          <p:cNvSpPr/>
          <p:nvPr/>
        </p:nvSpPr>
        <p:spPr>
          <a:xfrm>
            <a:off x="22494240" y="10881360"/>
            <a:ext cx="969264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8" name="Text 113"/>
          <p:cNvSpPr txBox="1"/>
          <p:nvPr/>
        </p:nvSpPr>
        <p:spPr>
          <a:xfrm>
            <a:off x="22768560" y="10927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93%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of its advice to denied under-30s in 2023 amounts to “be older” (median: be 48).</a:t>
            </a:r>
            <a:endParaRPr lang="en-US" sz="2200" dirty="0"/>
          </a:p>
        </p:txBody>
      </p:sp>
      <p:sp>
        <p:nvSpPr>
          <p:cNvPr id="119" name="marker 5"/>
          <p:cNvSpPr/>
          <p:nvPr/>
        </p:nvSpPr>
        <p:spPr>
          <a:xfrm>
            <a:off x="22494240" y="1234440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0" name="Text 115"/>
          <p:cNvSpPr txBox="1"/>
          <p:nvPr/>
        </p:nvSpPr>
        <p:spPr>
          <a:xfrm>
            <a:off x="22494240" y="12344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000" dirty="0"/>
          </a:p>
        </p:txBody>
      </p:sp>
      <p:sp>
        <p:nvSpPr>
          <p:cNvPr id="121" name="Text 116"/>
          <p:cNvSpPr txBox="1"/>
          <p:nvPr/>
        </p:nvSpPr>
        <p:spPr>
          <a:xfrm>
            <a:off x="23454360" y="12326112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1994’s sex and race gaps came from where people start</a:t>
            </a:r>
            <a:endParaRPr lang="en-US" sz="3800" dirty="0"/>
          </a:p>
        </p:txBody>
      </p:sp>
      <p:graphicFrame>
        <p:nvGraphicFramePr>
          <p:cNvPr id="2" name="1994 ga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94240" y="13853160"/>
          <a:ext cx="9692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gap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starting distance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vs men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 pp*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pp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vs White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 pp*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 pp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3" name="Text 117"/>
          <p:cNvSpPr txBox="1"/>
          <p:nvPr/>
        </p:nvSpPr>
        <p:spPr>
          <a:xfrm>
            <a:off x="22494240" y="153619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Denied further from the line, but treated alike at the same distance. In 2023, women have more recourse than men (+8 pp) and the race gap is not significant.  * 95% CI excludes 0</a:t>
            </a:r>
            <a:endParaRPr lang="en-US" sz="2000" dirty="0"/>
          </a:p>
        </p:txBody>
      </p:sp>
      <p:sp>
        <p:nvSpPr>
          <p:cNvPr id="124" name="marker 6"/>
          <p:cNvSpPr/>
          <p:nvPr/>
        </p:nvSpPr>
        <p:spPr>
          <a:xfrm>
            <a:off x="22494240" y="16687800"/>
            <a:ext cx="713232" cy="7132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5" name="Text 119"/>
          <p:cNvSpPr txBox="1"/>
          <p:nvPr/>
        </p:nvSpPr>
        <p:spPr>
          <a:xfrm>
            <a:off x="22494240" y="16687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3000" dirty="0"/>
          </a:p>
        </p:txBody>
      </p:sp>
      <p:sp>
        <p:nvSpPr>
          <p:cNvPr id="126" name="Text 120"/>
          <p:cNvSpPr txBox="1"/>
          <p:nvPr/>
        </p:nvSpPr>
        <p:spPr>
          <a:xfrm>
            <a:off x="23454360" y="16669512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it matters</a:t>
            </a:r>
            <a:endParaRPr lang="en-US" sz="3800" dirty="0"/>
          </a:p>
        </p:txBody>
      </p:sp>
      <p:sp>
        <p:nvSpPr>
          <p:cNvPr id="127" name="Text 121"/>
          <p:cNvSpPr txBox="1"/>
          <p:nvPr/>
        </p:nvSpPr>
        <p:spPr>
          <a:xfrm>
            <a:off x="22494240" y="175564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Error rates flag age (98% of qualified under-30s are wrongly denied); recourse shows that, once denied, almost none can do anything about it.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Unconstrained explanations mislead most where real recourse is scarcest.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Re-audit on current data: the 1994 benchmark understated the age gap.</a:t>
            </a:r>
            <a:endParaRPr lang="en-US" sz="2100" dirty="0"/>
          </a:p>
        </p:txBody>
      </p:sp>
      <p:sp>
        <p:nvSpPr>
          <p:cNvPr id="128" name="Text 122"/>
          <p:cNvSpPr txBox="1"/>
          <p:nvPr/>
        </p:nvSpPr>
        <p:spPr>
          <a:xfrm>
            <a:off x="22494240" y="19842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Limits: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income is a proxy label (in benefits, lower income qualifies); costs and immutability are explicit judgments; heuristic search; one state.</a:t>
            </a:r>
            <a:endParaRPr lang="en-US" sz="1800" dirty="0"/>
          </a:p>
        </p:txBody>
      </p:sp>
      <p:sp>
        <p:nvSpPr>
          <p:cNvPr id="129" name="Text 123"/>
          <p:cNvSpPr txBox="1"/>
          <p:nvPr/>
        </p:nvSpPr>
        <p:spPr>
          <a:xfrm>
            <a:off x="731520" y="21122640"/>
            <a:ext cx="3145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References: Wachter et al. 2017 · Ustun et al. 2019 · Gupta et al. 2019 · Mothilal et al. 2020 (DiCE) · Ding et al. 2021 (Retiring Adult) · Karimi et al. 2022 · full list in REPORT.md.   Research audit on public survey data, not an eligibility system.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urse Audit">
  <a:themeElements>
    <a:clrScheme name="Recourse Audit">
      <a:dk1>
        <a:srgbClr val="1B2430"/>
      </a:dk1>
      <a:lt1>
        <a:srgbClr val="FFFFFF"/>
      </a:lt1>
      <a:dk2>
        <a:srgbClr val="5A6472"/>
      </a:dk2>
      <a:lt2>
        <a:srgbClr val="F2F4F7"/>
      </a:lt2>
      <a:accent1>
        <a:srgbClr val="2A78D6"/>
      </a:accent1>
      <a:accent2>
        <a:srgbClr val="EB6834"/>
      </a:accent2>
      <a:accent3>
        <a:srgbClr val="5B3FD1"/>
      </a:accent3>
      <a:accent4>
        <a:srgbClr val="8C96A3"/>
      </a:accent4>
      <a:accent5>
        <a:srgbClr val="D1495B"/>
      </a:accent5>
      <a:accent6>
        <a:srgbClr val="B9AEEF"/>
      </a:accent6>
      <a:hlink>
        <a:srgbClr val="2A78D6"/>
      </a:hlink>
      <a:folHlink>
        <a:srgbClr val="5B3FD1"/>
      </a:folHlink>
    </a:clrScheme>
    <a:fontScheme name="Recourse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Recourse Equally Open to Everyone?</dc:title>
  <dc:subject>PptxGenJS Presentation</dc:subject>
  <dc:creator>Ogechukwu Ezenwa</dc:creator>
  <cp:lastModifiedBy>Ogechukwu Ezenwa</cp:lastModifiedBy>
  <cp:revision>1</cp:revision>
  <dcterms:created xsi:type="dcterms:W3CDTF">2026-10-11T08:16:06Z</dcterms:created>
  <dcterms:modified xsi:type="dcterms:W3CDTF">2026-10-11T08:16:06Z</dcterms:modified>
</cp:coreProperties>
</file>